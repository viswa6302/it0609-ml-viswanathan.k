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sldIdLst>
    <p:sldId id="281" r:id="rId5"/>
    <p:sldId id="257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341404-CA1A-4A8F-95ED-3B032E67BE4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56B3ED1-70F0-497E-B658-8A9A54376A84}" type="pres">
      <dgm:prSet presAssocID="{B5341404-CA1A-4A8F-95ED-3B032E67BE43}" presName="root" presStyleCnt="0">
        <dgm:presLayoutVars>
          <dgm:dir/>
          <dgm:resizeHandles val="exact"/>
        </dgm:presLayoutVars>
      </dgm:prSet>
      <dgm:spPr/>
    </dgm:pt>
  </dgm:ptLst>
  <dgm:cxnLst>
    <dgm:cxn modelId="{B0493BA2-D220-4E68-B331-4F72BADFE9BC}" type="presOf" srcId="{B5341404-CA1A-4A8F-95ED-3B032E67BE43}" destId="{756B3ED1-70F0-497E-B658-8A9A54376A84}" srcOrd="0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341404-CA1A-4A8F-95ED-3B032E67BE4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56B3ED1-70F0-497E-B658-8A9A54376A84}" type="pres">
      <dgm:prSet presAssocID="{B5341404-CA1A-4A8F-95ED-3B032E67BE43}" presName="root" presStyleCnt="0">
        <dgm:presLayoutVars>
          <dgm:dir/>
          <dgm:resizeHandles val="exact"/>
        </dgm:presLayoutVars>
      </dgm:prSet>
      <dgm:spPr/>
    </dgm:pt>
  </dgm:ptLst>
  <dgm:cxnLst>
    <dgm:cxn modelId="{B0493BA2-D220-4E68-B331-4F72BADFE9BC}" type="presOf" srcId="{B5341404-CA1A-4A8F-95ED-3B032E67BE43}" destId="{756B3ED1-70F0-497E-B658-8A9A54376A84}" srcOrd="0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341404-CA1A-4A8F-95ED-3B032E67BE4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56B3ED1-70F0-497E-B658-8A9A54376A84}" type="pres">
      <dgm:prSet presAssocID="{B5341404-CA1A-4A8F-95ED-3B032E67BE43}" presName="root" presStyleCnt="0">
        <dgm:presLayoutVars>
          <dgm:dir/>
          <dgm:resizeHandles val="exact"/>
        </dgm:presLayoutVars>
      </dgm:prSet>
      <dgm:spPr/>
    </dgm:pt>
  </dgm:ptLst>
  <dgm:cxnLst>
    <dgm:cxn modelId="{B0493BA2-D220-4E68-B331-4F72BADFE9BC}" type="presOf" srcId="{B5341404-CA1A-4A8F-95ED-3B032E67BE43}" destId="{756B3ED1-70F0-497E-B658-8A9A54376A84}" srcOrd="0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5341404-CA1A-4A8F-95ED-3B032E67BE4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56B3ED1-70F0-497E-B658-8A9A54376A84}" type="pres">
      <dgm:prSet presAssocID="{B5341404-CA1A-4A8F-95ED-3B032E67BE43}" presName="root" presStyleCnt="0">
        <dgm:presLayoutVars>
          <dgm:dir/>
          <dgm:resizeHandles val="exact"/>
        </dgm:presLayoutVars>
      </dgm:prSet>
      <dgm:spPr/>
    </dgm:pt>
  </dgm:ptLst>
  <dgm:cxnLst>
    <dgm:cxn modelId="{B0493BA2-D220-4E68-B331-4F72BADFE9BC}" type="presOf" srcId="{B5341404-CA1A-4A8F-95ED-3B032E67BE43}" destId="{756B3ED1-70F0-497E-B658-8A9A54376A84}" srcOrd="0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5341404-CA1A-4A8F-95ED-3B032E67BE4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56B3ED1-70F0-497E-B658-8A9A54376A84}" type="pres">
      <dgm:prSet presAssocID="{B5341404-CA1A-4A8F-95ED-3B032E67BE43}" presName="root" presStyleCnt="0">
        <dgm:presLayoutVars>
          <dgm:dir/>
          <dgm:resizeHandles val="exact"/>
        </dgm:presLayoutVars>
      </dgm:prSet>
      <dgm:spPr/>
    </dgm:pt>
  </dgm:ptLst>
  <dgm:cxnLst>
    <dgm:cxn modelId="{B0493BA2-D220-4E68-B331-4F72BADFE9BC}" type="presOf" srcId="{B5341404-CA1A-4A8F-95ED-3B032E67BE43}" destId="{756B3ED1-70F0-497E-B658-8A9A54376A84}" srcOrd="0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5341404-CA1A-4A8F-95ED-3B032E67BE4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56B3ED1-70F0-497E-B658-8A9A54376A84}" type="pres">
      <dgm:prSet presAssocID="{B5341404-CA1A-4A8F-95ED-3B032E67BE43}" presName="root" presStyleCnt="0">
        <dgm:presLayoutVars>
          <dgm:dir/>
          <dgm:resizeHandles val="exact"/>
        </dgm:presLayoutVars>
      </dgm:prSet>
      <dgm:spPr/>
    </dgm:pt>
  </dgm:ptLst>
  <dgm:cxnLst>
    <dgm:cxn modelId="{B0493BA2-D220-4E68-B331-4F72BADFE9BC}" type="presOf" srcId="{B5341404-CA1A-4A8F-95ED-3B032E67BE43}" destId="{756B3ED1-70F0-497E-B658-8A9A54376A84}" srcOrd="0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5341404-CA1A-4A8F-95ED-3B032E67BE4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56B3ED1-70F0-497E-B658-8A9A54376A84}" type="pres">
      <dgm:prSet presAssocID="{B5341404-CA1A-4A8F-95ED-3B032E67BE43}" presName="root" presStyleCnt="0">
        <dgm:presLayoutVars>
          <dgm:dir/>
          <dgm:resizeHandles val="exact"/>
        </dgm:presLayoutVars>
      </dgm:prSet>
      <dgm:spPr/>
    </dgm:pt>
  </dgm:ptLst>
  <dgm:cxnLst>
    <dgm:cxn modelId="{B0493BA2-D220-4E68-B331-4F72BADFE9BC}" type="presOf" srcId="{B5341404-CA1A-4A8F-95ED-3B032E67BE43}" destId="{756B3ED1-70F0-497E-B658-8A9A54376A84}" srcOrd="0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341404-CA1A-4A8F-95ED-3B032E67BE4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56B3ED1-70F0-497E-B658-8A9A54376A84}" type="pres">
      <dgm:prSet presAssocID="{B5341404-CA1A-4A8F-95ED-3B032E67BE43}" presName="root" presStyleCnt="0">
        <dgm:presLayoutVars>
          <dgm:dir/>
          <dgm:resizeHandles val="exact"/>
        </dgm:presLayoutVars>
      </dgm:prSet>
      <dgm:spPr/>
    </dgm:pt>
  </dgm:ptLst>
  <dgm:cxnLst>
    <dgm:cxn modelId="{B0493BA2-D220-4E68-B331-4F72BADFE9BC}" type="presOf" srcId="{B5341404-CA1A-4A8F-95ED-3B032E67BE43}" destId="{756B3ED1-70F0-497E-B658-8A9A54376A84}" srcOrd="0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5341404-CA1A-4A8F-95ED-3B032E67BE4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56B3ED1-70F0-497E-B658-8A9A54376A84}" type="pres">
      <dgm:prSet presAssocID="{B5341404-CA1A-4A8F-95ED-3B032E67BE43}" presName="root" presStyleCnt="0">
        <dgm:presLayoutVars>
          <dgm:dir/>
          <dgm:resizeHandles val="exact"/>
        </dgm:presLayoutVars>
      </dgm:prSet>
      <dgm:spPr/>
    </dgm:pt>
  </dgm:ptLst>
  <dgm:cxnLst>
    <dgm:cxn modelId="{B0493BA2-D220-4E68-B331-4F72BADFE9BC}" type="presOf" srcId="{B5341404-CA1A-4A8F-95ED-3B032E67BE43}" destId="{756B3ED1-70F0-497E-B658-8A9A54376A84}" srcOrd="0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94D2E-832E-4454-88B1-C6C215C9E55C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A0A09-6FA2-432A-878F-290AC51C72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3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2668F1A4-6DBB-4F0B-A679-6EE548363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B8DBF1C0-B8F1-4AAC-8704-256BA0E9D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6" name="Picture 5" descr="purple tinted chalkboard">
            <a:extLst>
              <a:ext uri="{FF2B5EF4-FFF2-40B4-BE49-F238E27FC236}">
                <a16:creationId xmlns:a16="http://schemas.microsoft.com/office/drawing/2014/main" id="{12751E25-7490-4E9F-B6B6-99147D39E6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5000"/>
          </a:blip>
          <a:srcRect r="-1" b="21257"/>
          <a:stretch/>
        </p:blipFill>
        <p:spPr>
          <a:xfrm>
            <a:off x="474133" y="474133"/>
            <a:ext cx="11243734" cy="5909733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B1457-35E0-409B-98CD-F11D19CA6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2195" y="571500"/>
            <a:ext cx="8827245" cy="267764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CO1-AT3 -TECHNICAL PRESENTATION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ITA-0609-MACHINE LEARNING 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Ques5-</a:t>
            </a:r>
            <a:r>
              <a:rPr lang="en-IN" sz="2800" dirty="0"/>
              <a:t>Decision Tree Learning and Representation &amp;</a:t>
            </a:r>
            <a:br>
              <a:rPr lang="en-IN" sz="2800" dirty="0"/>
            </a:br>
            <a:r>
              <a:rPr lang="en-IN" sz="2800" dirty="0"/>
              <a:t>Ques1-Learning Problems and Perspectives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DD245-17CD-4FBE-A9CF-AC997273D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194" y="3608853"/>
            <a:ext cx="8827245" cy="86142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K.VISHWANATHAN</a:t>
            </a:r>
          </a:p>
          <a:p>
            <a:r>
              <a:rPr lang="en-US" sz="2000" dirty="0">
                <a:solidFill>
                  <a:schemeClr val="bg1"/>
                </a:solidFill>
              </a:rPr>
              <a:t>192312063</a:t>
            </a:r>
          </a:p>
          <a:p>
            <a:r>
              <a:rPr lang="en-US" sz="2000" dirty="0">
                <a:solidFill>
                  <a:schemeClr val="bg1"/>
                </a:solidFill>
              </a:rPr>
              <a:t>DR.</a:t>
            </a:r>
            <a:r>
              <a:rPr lang="en-IN" sz="2000" dirty="0">
                <a:solidFill>
                  <a:schemeClr val="bg1"/>
                </a:solidFill>
              </a:rPr>
              <a:t> Shri Vindhya A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70F7E59-C971-4F55-8E3A-1E583B65F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65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B573C-62B2-4B2C-B0BE-FFB8203C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260" y="936346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en-IN" dirty="0"/>
              <a:t>QUESTION-5 </a:t>
            </a:r>
            <a:br>
              <a:rPr lang="en-IN" dirty="0"/>
            </a:br>
            <a:r>
              <a:rPr lang="en-IN" dirty="0"/>
              <a:t>Decision Tree and Its Representation</a:t>
            </a:r>
            <a:endParaRPr lang="en-US" dirty="0">
              <a:solidFill>
                <a:srgbClr val="EBEBEB"/>
              </a:solidFill>
            </a:endParaRPr>
          </a:p>
        </p:txBody>
      </p:sp>
      <p:graphicFrame>
        <p:nvGraphicFramePr>
          <p:cNvPr id="26" name="Content Placeholder 2" descr="SmartArt graphic placeholder">
            <a:extLst>
              <a:ext uri="{FF2B5EF4-FFF2-40B4-BE49-F238E27FC236}">
                <a16:creationId xmlns:a16="http://schemas.microsoft.com/office/drawing/2014/main" id="{F8B022AB-C541-4705-A055-F618AF733D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9483597"/>
              </p:ext>
            </p:extLst>
          </p:nvPr>
        </p:nvGraphicFramePr>
        <p:xfrm>
          <a:off x="559837" y="2649894"/>
          <a:ext cx="10842171" cy="361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11A4075-DD1C-C30B-2B49-8EC2E00D4B74}"/>
              </a:ext>
            </a:extLst>
          </p:cNvPr>
          <p:cNvSpPr txBox="1"/>
          <p:nvPr/>
        </p:nvSpPr>
        <p:spPr>
          <a:xfrm>
            <a:off x="858416" y="2747207"/>
            <a:ext cx="104502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Key Concepts:</a:t>
            </a:r>
            <a:endParaRPr lang="en-IN" dirty="0"/>
          </a:p>
          <a:p>
            <a:r>
              <a:rPr lang="en-IN" dirty="0"/>
              <a:t>Decision Tree Structure </a:t>
            </a:r>
          </a:p>
          <a:p>
            <a:r>
              <a:rPr lang="en-IN" dirty="0"/>
              <a:t>Entropy </a:t>
            </a:r>
          </a:p>
          <a:p>
            <a:r>
              <a:rPr lang="en-IN" dirty="0"/>
              <a:t>Information Gain </a:t>
            </a:r>
          </a:p>
          <a:p>
            <a:r>
              <a:rPr lang="en-IN" dirty="0"/>
              <a:t>Pruning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supervised Machine Learning algorithm</a:t>
            </a:r>
            <a:r>
              <a:rPr lang="en-IN" dirty="0"/>
              <a:t> Used for </a:t>
            </a:r>
            <a:r>
              <a:rPr lang="en-IN" b="1" dirty="0"/>
              <a:t>classification and decision-making</a:t>
            </a:r>
            <a:r>
              <a:rPr lang="en-IN" dirty="0"/>
              <a:t> Represents knowledge in a </a:t>
            </a:r>
            <a:r>
              <a:rPr lang="en-IN" b="1" dirty="0"/>
              <a:t>tree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Components:</a:t>
            </a:r>
          </a:p>
          <a:p>
            <a:r>
              <a:rPr lang="en-IN" b="1" dirty="0"/>
              <a:t>     Root → Branch → Leaf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810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59A9E-0584-9F5D-6B56-B7B92C8EF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3236-5B17-4DF4-C58F-95A46FE7F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IN" dirty="0"/>
              <a:t>Entropy and Information Gain</a:t>
            </a:r>
            <a:endParaRPr lang="en-US" dirty="0">
              <a:solidFill>
                <a:srgbClr val="EBEBEB"/>
              </a:solidFill>
            </a:endParaRPr>
          </a:p>
        </p:txBody>
      </p:sp>
      <p:graphicFrame>
        <p:nvGraphicFramePr>
          <p:cNvPr id="26" name="Content Placeholder 2" descr="SmartArt graphic placeholder">
            <a:extLst>
              <a:ext uri="{FF2B5EF4-FFF2-40B4-BE49-F238E27FC236}">
                <a16:creationId xmlns:a16="http://schemas.microsoft.com/office/drawing/2014/main" id="{8528C6BC-B10C-B7EB-CB26-6CB693CA3F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269593"/>
              </p:ext>
            </p:extLst>
          </p:nvPr>
        </p:nvGraphicFramePr>
        <p:xfrm>
          <a:off x="559837" y="2649894"/>
          <a:ext cx="10842171" cy="361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6C31830-45F8-017D-D2FA-0CD5BE821890}"/>
              </a:ext>
            </a:extLst>
          </p:cNvPr>
          <p:cNvSpPr txBox="1"/>
          <p:nvPr/>
        </p:nvSpPr>
        <p:spPr>
          <a:xfrm>
            <a:off x="690465" y="2743200"/>
            <a:ext cx="105529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Entropy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Entropy measures the </a:t>
            </a:r>
            <a:r>
              <a:rPr lang="en-IN" b="1" dirty="0"/>
              <a:t>uncertainty or impurity</a:t>
            </a:r>
            <a:r>
              <a:rPr lang="en-IN" dirty="0"/>
              <a:t> in a dataset.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helps determine how mixed the data 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High Entropy</a:t>
            </a:r>
            <a:r>
              <a:rPr lang="en-IN" dirty="0"/>
              <a:t> → Data contains more uncertainty.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Low Entropy</a:t>
            </a:r>
            <a:r>
              <a:rPr lang="en-IN" dirty="0"/>
              <a:t> → Data is more organised or pure.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Information 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Information Gain measures how much uncertainty is reduced after splitting the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helps the algorithm select the </a:t>
            </a:r>
            <a:r>
              <a:rPr lang="en-IN" b="1" dirty="0"/>
              <a:t>best feature</a:t>
            </a:r>
            <a:r>
              <a:rPr lang="en-IN" dirty="0"/>
              <a:t> for making a decision.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feature with the </a:t>
            </a:r>
            <a:r>
              <a:rPr lang="en-IN" b="1" dirty="0"/>
              <a:t>highest Information Gain</a:t>
            </a:r>
            <a:r>
              <a:rPr lang="en-IN" dirty="0"/>
              <a:t> is selected as the decision node.</a:t>
            </a:r>
          </a:p>
        </p:txBody>
      </p:sp>
    </p:spTree>
    <p:extLst>
      <p:ext uri="{BB962C8B-B14F-4D97-AF65-F5344CB8AC3E}">
        <p14:creationId xmlns:p14="http://schemas.microsoft.com/office/powerpoint/2010/main" val="1710000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D4DE4-C9D4-6D38-544C-376B5682C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67556-783F-49EB-2AD0-99AD1FEE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IN" dirty="0"/>
              <a:t>Working and Tree Pruning</a:t>
            </a:r>
            <a:endParaRPr lang="en-US" dirty="0">
              <a:solidFill>
                <a:srgbClr val="EBEBEB"/>
              </a:solidFill>
            </a:endParaRPr>
          </a:p>
        </p:txBody>
      </p:sp>
      <p:graphicFrame>
        <p:nvGraphicFramePr>
          <p:cNvPr id="26" name="Content Placeholder 2" descr="SmartArt graphic placeholder">
            <a:extLst>
              <a:ext uri="{FF2B5EF4-FFF2-40B4-BE49-F238E27FC236}">
                <a16:creationId xmlns:a16="http://schemas.microsoft.com/office/drawing/2014/main" id="{701C6761-5DA1-8DCF-09C7-885EA1D104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782160"/>
              </p:ext>
            </p:extLst>
          </p:nvPr>
        </p:nvGraphicFramePr>
        <p:xfrm>
          <a:off x="559837" y="2649894"/>
          <a:ext cx="10842171" cy="361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12EE7B8-2114-2FFB-90DC-C5F69819D478}"/>
              </a:ext>
            </a:extLst>
          </p:cNvPr>
          <p:cNvSpPr txBox="1"/>
          <p:nvPr/>
        </p:nvSpPr>
        <p:spPr>
          <a:xfrm>
            <a:off x="704460" y="2416628"/>
            <a:ext cx="1055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3071B-FEDF-1E38-B828-424AA82D3679}"/>
              </a:ext>
            </a:extLst>
          </p:cNvPr>
          <p:cNvSpPr txBox="1"/>
          <p:nvPr/>
        </p:nvSpPr>
        <p:spPr>
          <a:xfrm>
            <a:off x="934617" y="2601294"/>
            <a:ext cx="107830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Working of Decision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algorithm starts with the complete dataset.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selects the best feature for splitting the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data is divided into different groups based on conditions.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process is repeated for each group.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process ends when a final prediction is obtained at a leaf node.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</a:p>
          <a:p>
            <a:r>
              <a:rPr lang="en-IN" b="1" dirty="0"/>
              <a:t>Tree Pruning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very large tree may learn the training data too closely.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causes </a:t>
            </a:r>
            <a:r>
              <a:rPr lang="en-IN" b="1" dirty="0"/>
              <a:t>overfitting</a:t>
            </a:r>
            <a:r>
              <a:rPr lang="en-IN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Pruning removes unnecessary branches.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creates a simpler tree that performs better on new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2878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FD19C-3E21-68BB-4D8E-085DCB02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954AE-AFB2-C720-2E15-F757F2FF0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en-IN" dirty="0"/>
              <a:t>Advantages, Limitations and Conclusion</a:t>
            </a:r>
            <a:endParaRPr lang="en-US" dirty="0">
              <a:solidFill>
                <a:srgbClr val="EBEBEB"/>
              </a:solidFill>
            </a:endParaRPr>
          </a:p>
        </p:txBody>
      </p:sp>
      <p:graphicFrame>
        <p:nvGraphicFramePr>
          <p:cNvPr id="26" name="Content Placeholder 2" descr="SmartArt graphic placeholder">
            <a:extLst>
              <a:ext uri="{FF2B5EF4-FFF2-40B4-BE49-F238E27FC236}">
                <a16:creationId xmlns:a16="http://schemas.microsoft.com/office/drawing/2014/main" id="{BF84E54B-C471-9DC9-794B-F771831392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766701"/>
              </p:ext>
            </p:extLst>
          </p:nvPr>
        </p:nvGraphicFramePr>
        <p:xfrm>
          <a:off x="559837" y="2649894"/>
          <a:ext cx="10842171" cy="361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5705900-63C9-C388-C591-18145725DC76}"/>
              </a:ext>
            </a:extLst>
          </p:cNvPr>
          <p:cNvSpPr txBox="1"/>
          <p:nvPr/>
        </p:nvSpPr>
        <p:spPr>
          <a:xfrm>
            <a:off x="704460" y="2416628"/>
            <a:ext cx="1055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003DE-2420-33CD-F3E2-850B53153278}"/>
              </a:ext>
            </a:extLst>
          </p:cNvPr>
          <p:cNvSpPr txBox="1"/>
          <p:nvPr/>
        </p:nvSpPr>
        <p:spPr>
          <a:xfrm>
            <a:off x="775994" y="2333685"/>
            <a:ext cx="108561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Easy to understand and interpret.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Simple to visualise.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Useful for classification and decision-making.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Can handle different types of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Requires less data preprocessing. </a:t>
            </a:r>
          </a:p>
          <a:p>
            <a:r>
              <a:rPr lang="en-IN" b="1" dirty="0"/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Large trees can cause overfitting.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Deep trees can become complex.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Small changes in data may change the tree structure.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single decision tree may not always provide the highest accuracy.</a:t>
            </a:r>
          </a:p>
          <a:p>
            <a:r>
              <a:rPr lang="en-IN" b="1" dirty="0"/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Decision Tree Learning selects the best features, divides data based on conditions, and reaches a final decision. </a:t>
            </a:r>
            <a:r>
              <a:rPr lang="en-IN" b="1" dirty="0"/>
              <a:t>Entropy and Information Gain</a:t>
            </a:r>
            <a:r>
              <a:rPr lang="en-IN" dirty="0"/>
              <a:t> help in selecting the best splits, while </a:t>
            </a:r>
            <a:r>
              <a:rPr lang="en-IN" b="1" dirty="0"/>
              <a:t>pruning</a:t>
            </a:r>
            <a:r>
              <a:rPr lang="en-IN" dirty="0"/>
              <a:t> helps reduce overfitting.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3508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B6A8D-EE5A-615E-2DD0-6FC231515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68B42-6566-8977-48D5-88A2CD90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962" y="597159"/>
            <a:ext cx="9659226" cy="1247018"/>
          </a:xfrm>
        </p:spPr>
        <p:txBody>
          <a:bodyPr>
            <a:noAutofit/>
          </a:bodyPr>
          <a:lstStyle/>
          <a:p>
            <a:r>
              <a:rPr lang="en-IN" sz="2800" dirty="0"/>
              <a:t>Question 2: </a:t>
            </a:r>
            <a:br>
              <a:rPr lang="en-IN" sz="2800" dirty="0"/>
            </a:br>
            <a:r>
              <a:rPr lang="en-IN" sz="2800" dirty="0"/>
              <a:t>Concept Learning and Hypothesis Representation.</a:t>
            </a:r>
            <a:endParaRPr lang="en-US" sz="2800" dirty="0">
              <a:solidFill>
                <a:srgbClr val="EBEBEB"/>
              </a:solidFill>
            </a:endParaRPr>
          </a:p>
        </p:txBody>
      </p:sp>
      <p:graphicFrame>
        <p:nvGraphicFramePr>
          <p:cNvPr id="26" name="Content Placeholder 2" descr="SmartArt graphic placeholder">
            <a:extLst>
              <a:ext uri="{FF2B5EF4-FFF2-40B4-BE49-F238E27FC236}">
                <a16:creationId xmlns:a16="http://schemas.microsoft.com/office/drawing/2014/main" id="{488DAE7C-03F4-67DF-9A7D-8432C850E7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864213"/>
              </p:ext>
            </p:extLst>
          </p:nvPr>
        </p:nvGraphicFramePr>
        <p:xfrm>
          <a:off x="559837" y="2649894"/>
          <a:ext cx="10842171" cy="361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631E94-563C-434C-B8C1-ECEE7C1AD8BB}"/>
              </a:ext>
            </a:extLst>
          </p:cNvPr>
          <p:cNvSpPr txBox="1"/>
          <p:nvPr/>
        </p:nvSpPr>
        <p:spPr>
          <a:xfrm>
            <a:off x="704460" y="2416628"/>
            <a:ext cx="1055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DEFB4-F061-02E4-1075-C3799E7C9C77}"/>
              </a:ext>
            </a:extLst>
          </p:cNvPr>
          <p:cNvSpPr txBox="1"/>
          <p:nvPr/>
        </p:nvSpPr>
        <p:spPr>
          <a:xfrm>
            <a:off x="704460" y="2785960"/>
            <a:ext cx="107830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Concept Learning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Concept Learning is the process of learning a general concept from training examples. The system identifies patterns from examples. Examples are usually classified as: </a:t>
            </a:r>
            <a:r>
              <a:rPr lang="en-IN" sz="2000" b="1" dirty="0"/>
              <a:t>Positive examples</a:t>
            </a:r>
            <a:r>
              <a:rPr lang="en-IN" sz="2000" dirty="0"/>
              <a:t> – belong to the concept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Negative examples</a:t>
            </a:r>
            <a:r>
              <a:rPr lang="en-IN" sz="2000" dirty="0"/>
              <a:t> – do not belong to the concept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goal is to learn a rule that can classify new, unseen examples.</a:t>
            </a:r>
          </a:p>
        </p:txBody>
      </p:sp>
    </p:spTree>
    <p:extLst>
      <p:ext uri="{BB962C8B-B14F-4D97-AF65-F5344CB8AC3E}">
        <p14:creationId xmlns:p14="http://schemas.microsoft.com/office/powerpoint/2010/main" val="2073468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39C6A-E3A7-3155-EB5B-98B7D3290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EE3DA-AB38-9F9E-9BBA-2FC931B2F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962" y="597159"/>
            <a:ext cx="9659226" cy="1247018"/>
          </a:xfrm>
        </p:spPr>
        <p:txBody>
          <a:bodyPr>
            <a:noAutofit/>
          </a:bodyPr>
          <a:lstStyle/>
          <a:p>
            <a:r>
              <a:rPr lang="en-IN" sz="2800" b="1" dirty="0"/>
              <a:t>Concept Learning Task</a:t>
            </a:r>
            <a:endParaRPr lang="en-US" sz="2800" b="1" dirty="0">
              <a:solidFill>
                <a:srgbClr val="EBEBEB"/>
              </a:solidFill>
            </a:endParaRPr>
          </a:p>
        </p:txBody>
      </p:sp>
      <p:graphicFrame>
        <p:nvGraphicFramePr>
          <p:cNvPr id="26" name="Content Placeholder 2" descr="SmartArt graphic placeholder">
            <a:extLst>
              <a:ext uri="{FF2B5EF4-FFF2-40B4-BE49-F238E27FC236}">
                <a16:creationId xmlns:a16="http://schemas.microsoft.com/office/drawing/2014/main" id="{BF2123FD-0D23-E2F7-0768-7E97159275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9837" y="2649894"/>
          <a:ext cx="10842171" cy="361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42C9D0E-14F4-9BA1-77DC-E83ACFC3FC6A}"/>
              </a:ext>
            </a:extLst>
          </p:cNvPr>
          <p:cNvSpPr txBox="1"/>
          <p:nvPr/>
        </p:nvSpPr>
        <p:spPr>
          <a:xfrm>
            <a:off x="704460" y="2416628"/>
            <a:ext cx="1055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7B235-3090-1F24-4E71-C7F7F780828D}"/>
              </a:ext>
            </a:extLst>
          </p:cNvPr>
          <p:cNvSpPr txBox="1"/>
          <p:nvPr/>
        </p:nvSpPr>
        <p:spPr>
          <a:xfrm>
            <a:off x="704460" y="2785960"/>
            <a:ext cx="10783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98063-5C51-76B1-2D8B-6E357E6D588A}"/>
              </a:ext>
            </a:extLst>
          </p:cNvPr>
          <p:cNvSpPr txBox="1"/>
          <p:nvPr/>
        </p:nvSpPr>
        <p:spPr>
          <a:xfrm>
            <a:off x="811763" y="2785960"/>
            <a:ext cx="10820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learning system receives a set of training examples.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Each example contains: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Attributes/features</a:t>
            </a:r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Target concept or class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system analyses the examples and searches for a suitable rule.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learned rule is used to classify future examples.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Example:</a:t>
            </a:r>
            <a:br>
              <a:rPr lang="en-IN" sz="2000" dirty="0"/>
            </a:br>
            <a:r>
              <a:rPr lang="en-IN" sz="2000" dirty="0"/>
              <a:t>Learning the concept </a:t>
            </a:r>
            <a:r>
              <a:rPr lang="en-IN" sz="2000" b="1" dirty="0"/>
              <a:t>“Will Play Outside?”</a:t>
            </a:r>
            <a:r>
              <a:rPr lang="en-IN" sz="2000" dirty="0"/>
              <a:t> using weather, temperature, and humidity.</a:t>
            </a:r>
          </a:p>
        </p:txBody>
      </p:sp>
    </p:spTree>
    <p:extLst>
      <p:ext uri="{BB962C8B-B14F-4D97-AF65-F5344CB8AC3E}">
        <p14:creationId xmlns:p14="http://schemas.microsoft.com/office/powerpoint/2010/main" val="878690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18CA31-DE72-E3AD-922B-FE5A5118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0810-7767-F781-1EF4-3AA5D053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962" y="597159"/>
            <a:ext cx="9659226" cy="1247018"/>
          </a:xfrm>
        </p:spPr>
        <p:txBody>
          <a:bodyPr>
            <a:noAutofit/>
          </a:bodyPr>
          <a:lstStyle/>
          <a:p>
            <a:r>
              <a:rPr lang="en-IN" sz="3200" b="1" dirty="0"/>
              <a:t>Hypothesis Representation</a:t>
            </a:r>
            <a:endParaRPr lang="en-US" sz="3200" b="1" dirty="0">
              <a:solidFill>
                <a:srgbClr val="EBEBEB"/>
              </a:solidFill>
            </a:endParaRPr>
          </a:p>
        </p:txBody>
      </p:sp>
      <p:graphicFrame>
        <p:nvGraphicFramePr>
          <p:cNvPr id="26" name="Content Placeholder 2" descr="SmartArt graphic placeholder">
            <a:extLst>
              <a:ext uri="{FF2B5EF4-FFF2-40B4-BE49-F238E27FC236}">
                <a16:creationId xmlns:a16="http://schemas.microsoft.com/office/drawing/2014/main" id="{5F9038EC-BBB5-690B-BEEC-9E415B0CB2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3280223"/>
              </p:ext>
            </p:extLst>
          </p:nvPr>
        </p:nvGraphicFramePr>
        <p:xfrm>
          <a:off x="559837" y="2649894"/>
          <a:ext cx="10842171" cy="361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1746EDC-AB51-E3CF-45DD-1B808DB125FD}"/>
              </a:ext>
            </a:extLst>
          </p:cNvPr>
          <p:cNvSpPr txBox="1"/>
          <p:nvPr/>
        </p:nvSpPr>
        <p:spPr>
          <a:xfrm>
            <a:off x="704460" y="2416628"/>
            <a:ext cx="1055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774EA-D588-53C3-00A9-93EA3A6C1B64}"/>
              </a:ext>
            </a:extLst>
          </p:cNvPr>
          <p:cNvSpPr txBox="1"/>
          <p:nvPr/>
        </p:nvSpPr>
        <p:spPr>
          <a:xfrm>
            <a:off x="704460" y="2785960"/>
            <a:ext cx="10783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0B8ABF-DC1D-E4B5-2519-FFE5DA4DA9B0}"/>
              </a:ext>
            </a:extLst>
          </p:cNvPr>
          <p:cNvSpPr txBox="1"/>
          <p:nvPr/>
        </p:nvSpPr>
        <p:spPr>
          <a:xfrm>
            <a:off x="811763" y="2785960"/>
            <a:ext cx="1082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7BC66-7B9E-E04C-D99B-22CB6EA61795}"/>
              </a:ext>
            </a:extLst>
          </p:cNvPr>
          <p:cNvSpPr txBox="1"/>
          <p:nvPr/>
        </p:nvSpPr>
        <p:spPr>
          <a:xfrm>
            <a:off x="634482" y="2649894"/>
            <a:ext cx="1099768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 </a:t>
            </a:r>
            <a:r>
              <a:rPr lang="en-IN" sz="2000" b="1" dirty="0"/>
              <a:t>hypothesis</a:t>
            </a:r>
            <a:r>
              <a:rPr lang="en-IN" sz="2000" dirty="0"/>
              <a:t> is a possible rule that explains the training examples.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It represents the learner's current understanding of the concept.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 hypothesis can be: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General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Specific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Partially specific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Example: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“A person will play outside when the weather is sunny.”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Hypotheses are evaluated by checking whether they correctly classify the training examples.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 good hypothesis should be consistent with the available data.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82793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22A2A-CD39-F6E4-6618-C8B071BE5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29FE-DA57-AD16-F647-052AE6E8C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308" y="847400"/>
            <a:ext cx="9659226" cy="1247018"/>
          </a:xfrm>
        </p:spPr>
        <p:txBody>
          <a:bodyPr>
            <a:noAutofit/>
          </a:bodyPr>
          <a:lstStyle/>
          <a:p>
            <a:r>
              <a:rPr lang="en-IN" sz="3200" b="1" dirty="0"/>
              <a:t>General-to-Specific Ordering</a:t>
            </a:r>
            <a:br>
              <a:rPr lang="en-IN" sz="3200" b="1" dirty="0"/>
            </a:br>
            <a:endParaRPr lang="en-US" sz="3200" b="1" dirty="0">
              <a:solidFill>
                <a:srgbClr val="EBEBEB"/>
              </a:solidFill>
            </a:endParaRPr>
          </a:p>
        </p:txBody>
      </p:sp>
      <p:graphicFrame>
        <p:nvGraphicFramePr>
          <p:cNvPr id="26" name="Content Placeholder 2" descr="SmartArt graphic placeholder">
            <a:extLst>
              <a:ext uri="{FF2B5EF4-FFF2-40B4-BE49-F238E27FC236}">
                <a16:creationId xmlns:a16="http://schemas.microsoft.com/office/drawing/2014/main" id="{04F709DC-FD65-F60E-1DF4-A41DBC2804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2675897"/>
              </p:ext>
            </p:extLst>
          </p:nvPr>
        </p:nvGraphicFramePr>
        <p:xfrm>
          <a:off x="559837" y="2649894"/>
          <a:ext cx="10842171" cy="361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556C31E-2790-ADE4-370D-56E4C7B61D58}"/>
              </a:ext>
            </a:extLst>
          </p:cNvPr>
          <p:cNvSpPr txBox="1"/>
          <p:nvPr/>
        </p:nvSpPr>
        <p:spPr>
          <a:xfrm>
            <a:off x="704460" y="2416628"/>
            <a:ext cx="1055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E10D27-D3F3-175E-06C4-FD3B21D87072}"/>
              </a:ext>
            </a:extLst>
          </p:cNvPr>
          <p:cNvSpPr txBox="1"/>
          <p:nvPr/>
        </p:nvSpPr>
        <p:spPr>
          <a:xfrm>
            <a:off x="704460" y="2785960"/>
            <a:ext cx="10783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412C7-0F57-A33A-D2AD-357100BCFBE2}"/>
              </a:ext>
            </a:extLst>
          </p:cNvPr>
          <p:cNvSpPr txBox="1"/>
          <p:nvPr/>
        </p:nvSpPr>
        <p:spPr>
          <a:xfrm>
            <a:off x="811763" y="2785960"/>
            <a:ext cx="1082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0B050-5806-4E3D-77F0-FF8CDC86B184}"/>
              </a:ext>
            </a:extLst>
          </p:cNvPr>
          <p:cNvSpPr txBox="1"/>
          <p:nvPr/>
        </p:nvSpPr>
        <p:spPr>
          <a:xfrm>
            <a:off x="634482" y="2649894"/>
            <a:ext cx="10997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7DD32-A012-498A-E896-94AC735A2660}"/>
              </a:ext>
            </a:extLst>
          </p:cNvPr>
          <p:cNvSpPr txBox="1"/>
          <p:nvPr/>
        </p:nvSpPr>
        <p:spPr>
          <a:xfrm>
            <a:off x="559837" y="2416628"/>
            <a:ext cx="1107232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Hypotheses can be arranged from </a:t>
            </a:r>
            <a:r>
              <a:rPr lang="en-IN" sz="2000" b="1" dirty="0"/>
              <a:t>general to specific</a:t>
            </a:r>
            <a:r>
              <a:rPr lang="en-IN" sz="20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 </a:t>
            </a:r>
            <a:r>
              <a:rPr lang="en-IN" sz="2000" b="1" dirty="0"/>
              <a:t>general hypothesis</a:t>
            </a:r>
            <a:r>
              <a:rPr lang="en-IN" sz="2000" dirty="0"/>
              <a:t> accepts many possible examples.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 </a:t>
            </a:r>
            <a:r>
              <a:rPr lang="en-IN" sz="2000" b="1" dirty="0"/>
              <a:t>specific hypothesis</a:t>
            </a:r>
            <a:r>
              <a:rPr lang="en-IN" sz="2000" dirty="0"/>
              <a:t> accepts only a limited number of examples.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Training examples help refine the hypothesis.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000" b="1" dirty="0"/>
              <a:t>Learning Process: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Start with a possible hypothesis.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Compare it with training examples.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Generalise it when positive examples are missed.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Make it more specific when negative examples are incorrectly accepted.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51269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993DC-8CCE-C8DB-4E3E-F70AA748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B38E5-3DB9-7D6C-7897-F7233F7DC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333" y="711334"/>
            <a:ext cx="9659226" cy="1247018"/>
          </a:xfrm>
        </p:spPr>
        <p:txBody>
          <a:bodyPr>
            <a:noAutofit/>
          </a:bodyPr>
          <a:lstStyle/>
          <a:p>
            <a:r>
              <a:rPr lang="en-IN" sz="3200" b="1" dirty="0"/>
              <a:t>Importance and Applications</a:t>
            </a:r>
            <a:endParaRPr lang="en-US" sz="3200" b="1" dirty="0">
              <a:solidFill>
                <a:srgbClr val="EBEBEB"/>
              </a:solidFill>
            </a:endParaRPr>
          </a:p>
        </p:txBody>
      </p:sp>
      <p:graphicFrame>
        <p:nvGraphicFramePr>
          <p:cNvPr id="26" name="Content Placeholder 2" descr="SmartArt graphic placeholder">
            <a:extLst>
              <a:ext uri="{FF2B5EF4-FFF2-40B4-BE49-F238E27FC236}">
                <a16:creationId xmlns:a16="http://schemas.microsoft.com/office/drawing/2014/main" id="{6B366CE3-0059-75CC-028B-DA26AFA94C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7624207"/>
              </p:ext>
            </p:extLst>
          </p:nvPr>
        </p:nvGraphicFramePr>
        <p:xfrm>
          <a:off x="559837" y="2649894"/>
          <a:ext cx="10842171" cy="361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A171923-D1E9-0D99-9290-D4C3090F944A}"/>
              </a:ext>
            </a:extLst>
          </p:cNvPr>
          <p:cNvSpPr txBox="1"/>
          <p:nvPr/>
        </p:nvSpPr>
        <p:spPr>
          <a:xfrm>
            <a:off x="704460" y="2416628"/>
            <a:ext cx="1055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561AAA-50D3-A00F-2CCB-C527E10ADDA6}"/>
              </a:ext>
            </a:extLst>
          </p:cNvPr>
          <p:cNvSpPr txBox="1"/>
          <p:nvPr/>
        </p:nvSpPr>
        <p:spPr>
          <a:xfrm>
            <a:off x="704460" y="2785960"/>
            <a:ext cx="10783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26828B-9802-D874-E8F8-00F04BF13F1C}"/>
              </a:ext>
            </a:extLst>
          </p:cNvPr>
          <p:cNvSpPr txBox="1"/>
          <p:nvPr/>
        </p:nvSpPr>
        <p:spPr>
          <a:xfrm>
            <a:off x="811763" y="2785960"/>
            <a:ext cx="1082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A4EFB-B4ED-737F-3A64-41E840F9E83A}"/>
              </a:ext>
            </a:extLst>
          </p:cNvPr>
          <p:cNvSpPr txBox="1"/>
          <p:nvPr/>
        </p:nvSpPr>
        <p:spPr>
          <a:xfrm>
            <a:off x="634482" y="2649894"/>
            <a:ext cx="10997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018266-0A6C-8C2A-F038-6221A3A5E645}"/>
              </a:ext>
            </a:extLst>
          </p:cNvPr>
          <p:cNvSpPr txBox="1"/>
          <p:nvPr/>
        </p:nvSpPr>
        <p:spPr>
          <a:xfrm>
            <a:off x="634482" y="2416628"/>
            <a:ext cx="107830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Importance</a:t>
            </a:r>
          </a:p>
          <a:p>
            <a:r>
              <a:rPr lang="en-IN" dirty="0"/>
              <a:t>Helps machines learn concepts from examples. </a:t>
            </a:r>
          </a:p>
          <a:p>
            <a:r>
              <a:rPr lang="en-IN" dirty="0"/>
              <a:t>Supports classification of new data. </a:t>
            </a:r>
          </a:p>
          <a:p>
            <a:r>
              <a:rPr lang="en-IN" dirty="0"/>
              <a:t>Helps extract understandable knowledge and rules. </a:t>
            </a:r>
          </a:p>
          <a:p>
            <a:r>
              <a:rPr lang="en-IN" dirty="0"/>
              <a:t>Forms the foundation for algorithms such as </a:t>
            </a:r>
            <a:r>
              <a:rPr lang="en-IN" b="1" dirty="0"/>
              <a:t>Find-S</a:t>
            </a:r>
            <a:r>
              <a:rPr lang="en-IN" dirty="0"/>
              <a:t> and </a:t>
            </a:r>
            <a:r>
              <a:rPr lang="en-IN" b="1" dirty="0"/>
              <a:t>Candidate Elimination</a:t>
            </a:r>
            <a:r>
              <a:rPr lang="en-IN" dirty="0"/>
              <a:t>.</a:t>
            </a:r>
          </a:p>
          <a:p>
            <a:r>
              <a:rPr lang="en-IN" dirty="0"/>
              <a:t> </a:t>
            </a:r>
          </a:p>
          <a:p>
            <a:r>
              <a:rPr lang="en-IN" b="1" dirty="0"/>
              <a:t>Conclusion</a:t>
            </a:r>
          </a:p>
          <a:p>
            <a:r>
              <a:rPr lang="en-IN" dirty="0"/>
              <a:t>Concept Learning enables a machine to learn a general rule from positive and negative examples. By representing and refining hypotheses, the system can classify new examples and extract useful knowledge from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0409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F666C14-7219-46F1-8169-9E45DA110A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4B8C88-7AFD-4F93-AF50-E36A0AADA3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C0CEB4-BFAC-4014-9B69-2CFFE0B783D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 design</Template>
  <TotalTime>23</TotalTime>
  <Words>708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Times New Roman</vt:lpstr>
      <vt:lpstr>Wingdings 3</vt:lpstr>
      <vt:lpstr>Ion Boardroom</vt:lpstr>
      <vt:lpstr>CO1-AT3 -TECHNICAL PRESENTATION ITA-0609-MACHINE LEARNING   Ques5-Decision Tree Learning and Representation &amp; Ques1-Learning Problems and Perspectives </vt:lpstr>
      <vt:lpstr>QUESTION-5  Decision Tree and Its Representation</vt:lpstr>
      <vt:lpstr>Entropy and Information Gain</vt:lpstr>
      <vt:lpstr>Working and Tree Pruning</vt:lpstr>
      <vt:lpstr>Advantages, Limitations and Conclusion</vt:lpstr>
      <vt:lpstr>Question 2:  Concept Learning and Hypothesis Representation.</vt:lpstr>
      <vt:lpstr>Concept Learning Task</vt:lpstr>
      <vt:lpstr>Hypothesis Representation</vt:lpstr>
      <vt:lpstr>General-to-Specific Ordering </vt:lpstr>
      <vt:lpstr>Importance and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Adithya .k</dc:creator>
  <cp:lastModifiedBy>Adithya .k</cp:lastModifiedBy>
  <cp:revision>1</cp:revision>
  <dcterms:created xsi:type="dcterms:W3CDTF">2026-07-27T15:35:39Z</dcterms:created>
  <dcterms:modified xsi:type="dcterms:W3CDTF">2026-07-27T15:58:52Z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